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013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Adjusted B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Stress</c:v>
                </c:pt>
                <c:pt idx="1">
                  <c:v>Non-health
prior degree</c:v>
                </c:pt>
                <c:pt idx="2">
                  <c:v>Prior CGPA
(+1.0)</c:v>
                </c:pt>
                <c:pt idx="3">
                  <c:v>Entrance exam
(+1 point)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-2.218</c:v>
                </c:pt>
                <c:pt idx="1">
                  <c:v>-6.0890000000000004</c:v>
                </c:pt>
                <c:pt idx="2">
                  <c:v>5.976</c:v>
                </c:pt>
                <c:pt idx="3">
                  <c:v>0.20100000000000001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EC-40A7-9864-C9CDBA641E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"/>
          <c:min val="-7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E7E-4322-AB51-DA8FC028CD3A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7E-4322-AB51-DA8FC028CD3A}"/>
              </c:ext>
            </c:extLst>
          </c:dPt>
          <c:dPt>
            <c:idx val="2"/>
            <c:bubble3D val="0"/>
            <c:spPr>
              <a:solidFill>
                <a:srgbClr val="065F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7E-4322-AB51-DA8FC028CD3A}"/>
              </c:ext>
            </c:extLst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7E-4322-AB51-DA8FC028CD3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B2B2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7E-4322-AB51-DA8FC028CD3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B2B2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E7E-4322-AB51-DA8FC028CD3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B2B2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E7E-4322-AB51-DA8FC028CD3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B2B2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E7E-4322-AB51-DA8FC028CD3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Health sciences</c:v>
                </c:pt>
                <c:pt idx="1">
                  <c:v>Biology</c:v>
                </c:pt>
                <c:pt idx="2">
                  <c:v>Chemistry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82.2</c:v>
                </c:pt>
                <c:pt idx="1">
                  <c:v>7.5</c:v>
                </c:pt>
                <c:pt idx="2">
                  <c:v>3.8</c:v>
                </c:pt>
                <c:pt idx="3">
                  <c:v>6.4999999999999973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E7E-4322-AB51-DA8FC028CD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158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https://link.springer.com/article/10.1186/s12909-023-04372-4 (article page; background, methods, results)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https://link.springer.com/article/10.1186/s12909-023-04372-4 (abstract: background, aim, methods)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https://link.springer.com/article/10.1186/s12909-023-04372-4 (methods + sample; regression R² reported)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https://link.springer.com/article/10.1186/s12909-023-04372-4 (sample size n=292; age; AP mean; measures and analysis description)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https://link.springer.com/article/10.1186/s12909-023-04372-4 (Results: Adjusted B values for stress, prior degree, prior CGPA, entrance exam)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https://link.springer.com/article/10.1186/s12909-023-04372-4 (Results: prior education background proportions)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https://link.springer.com/article/10.1186/s12909-023-04372-4 (Results: predictors and adjusted coefficients)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https://link.springer.com/article/10.1186/s12909-023-04372-4 (Discussion &amp; conclusion: implications for admissions and stress support)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https://link.springer.com/article/10.1186/s12909-023-04372-4 (paper used as the basis for poster structure and reported metrics)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https://link.springer.com/article/10.1186/s12909-023-04372-4 (paper used as presentation basis)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/mnt/data/RE4U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"/>
            <a:ext cx="1417320" cy="63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128016"/>
            <a:ext cx="880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Presentation Sample (10 slides)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231880" y="1463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01/10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601968"/>
            <a:ext cx="1219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Predictors of Academic Performance in Medical Students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visual-heavy research deck based on a real published paper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514600"/>
            <a:ext cx="10881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14400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023360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40880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235440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Implications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 rot="5400000">
            <a:off x="3063240" y="3072384"/>
            <a:ext cx="237744" cy="237744"/>
          </a:xfrm>
          <a:prstGeom prst="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 rot="5400000">
            <a:off x="6080760" y="3072384"/>
            <a:ext cx="237744" cy="237744"/>
          </a:xfrm>
          <a:prstGeom prst="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 rot="5400000">
            <a:off x="8549640" y="3072384"/>
            <a:ext cx="237744" cy="237744"/>
          </a:xfrm>
          <a:prstGeom prst="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914400" y="3246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curriculum → lower than desired performance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023360" y="3246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Mixed-methods + regression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040880" y="32461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significant predictors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235440" y="32461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Admissions + support actions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20040" y="6638544"/>
            <a:ext cx="894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ResearchEdit4u Solutions • Sample Deck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311640" y="66385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DOI: 10.1186/s12909-023-04372-4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/mnt/data/RE4U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"/>
            <a:ext cx="1417320" cy="63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128016"/>
            <a:ext cx="880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 &amp; objectives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231880" y="1463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02/10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601968"/>
            <a:ext cx="1219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960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predicts students’ academic performance in a new medical curriculum?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40080" y="1691640"/>
            <a:ext cx="3246120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68680" y="1874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21945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socio-demographic and prior-education factors associated with preclinical CGPA/academic performance.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60520" y="169164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160520" y="1691640"/>
            <a:ext cx="3246120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389120" y="1874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389120" y="21945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Concurrent mixed methods: survey + qualitative interviews; quantify predictors using multiple linear regression.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680960" y="169164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7680960" y="1691640"/>
            <a:ext cx="3246120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909560" y="1874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909560" y="21945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list of actionable predictors to inform admissions policy and student support interventions.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3794760"/>
            <a:ext cx="108813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68680" y="39776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 (visual summary)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68680" y="4370832"/>
            <a:ext cx="10332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960120" y="4617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Admissions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60120" y="491947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 differences may affect outcomes → policy needs evidence.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617720" y="4617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support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617720" y="491947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 is modifiable → targeted support may lift performance.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275320" y="4617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275320" y="491947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barriers for non-health backgrounds → bridge programs.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320040" y="6638544"/>
            <a:ext cx="894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ResearchEdit4u Solutions • Visual abstract slide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311640" y="66385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DOI: 10.1186/s12909-023-04372-4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/mnt/data/RE4U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"/>
            <a:ext cx="1417320" cy="63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128016"/>
            <a:ext cx="880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design (mixed methods)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231880" y="1463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03/10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601968"/>
            <a:ext cx="1219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Concurrent mixed-method design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1554480"/>
            <a:ext cx="108813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00584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Survey (quant)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2148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questionnaire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 = 292 responders)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0120" y="2880360"/>
            <a:ext cx="329184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00584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linear regression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61772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Interviews (qual)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617720" y="2148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In-depth interviews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 = 15 key informants)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0" y="2880360"/>
            <a:ext cx="329184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61772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Thematic coding → triangulation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229600" y="1828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29600" y="21488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performance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(% / CGPA)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183880" y="2880360"/>
            <a:ext cx="3291840" cy="10972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22960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Explains ~71% variance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(R² ≈ 0.71)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343400" y="260604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7955280" y="260604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640080" y="4709160"/>
            <a:ext cx="108813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868680" y="48920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tip (what we do for clients)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68680" y="521208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convert “methods” into slide-ready visuals: study design schematic + variable map + results chart, then add speaker notes so the presenter can explain confidently.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320040" y="6638544"/>
            <a:ext cx="894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ResearchEdit4u Solutions • Study design infographic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311640" y="66385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DOI: 10.1186/s12909-023-04372-4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/mnt/data/RE4U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"/>
            <a:ext cx="1417320" cy="63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128016"/>
            <a:ext cx="880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&amp; variables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231880" y="1463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04/10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601968"/>
            <a:ext cx="1219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914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snapshot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numbers shown as “at-a-glance” cards for fast comprehension.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1828800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68680" y="19933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Responders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292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8680" y="2697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93.58% response rate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80560" y="1828800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709160" y="19933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age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709160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~28.5 years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709160" y="2697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Preclinical students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321040" y="1828800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8549640" y="19933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549640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 = 78.55% ± 7.01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549640" y="2697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performance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68680" y="361188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map (what went into the regression)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914400" y="397764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914400" y="3977640"/>
            <a:ext cx="3383280" cy="12801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1115568" y="41788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Socio-demographic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115568" y="45262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Gender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experience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709160" y="397764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4709160" y="3977640"/>
            <a:ext cx="3383280" cy="12801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910328" y="41788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education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4910328" y="45262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Degree type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CGPA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Entrance exam score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503920" y="397764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8503920" y="3977640"/>
            <a:ext cx="3383280" cy="12801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8705088" y="41788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Psychosocial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8705088" y="45262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 (MSSQ)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320040" y="6638544"/>
            <a:ext cx="894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ResearchEdit4u Solutions • Variables and sample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9311640" y="66385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DOI: 10.1186/s12909-023-04372-4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/mnt/data/RE4U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"/>
            <a:ext cx="1417320" cy="63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128016"/>
            <a:ext cx="880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visualization: regression effects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231880" y="1463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05/10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601968"/>
            <a:ext cx="1219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predictors matter most?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Adjusted B values (percentage-point change in academic performance)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1783080"/>
            <a:ext cx="7406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10" name="Chart 0"/>
          <p:cNvGraphicFramePr/>
          <p:nvPr/>
        </p:nvGraphicFramePr>
        <p:xfrm>
          <a:off x="914400" y="2057400"/>
          <a:ext cx="681228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8275320" y="1783080"/>
            <a:ext cx="32461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8503920" y="1965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(plain language)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503920" y="233172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Stress is linked to lower performance.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Non-health background shows the largest drop.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Strong prior achievement (CGPA) predicts higher performance.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Entrance exam has a small positive contribution.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20040" y="6638544"/>
            <a:ext cx="894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ResearchEdit4u Solutions • Data visualization slide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9311640" y="66385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DOI: 10.1186/s12909-023-04372-4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/mnt/data/RE4U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"/>
            <a:ext cx="1417320" cy="63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128016"/>
            <a:ext cx="880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visualization: prior education mix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231880" y="1463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06/10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601968"/>
            <a:ext cx="1219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 education background (reported sample)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majority entered from health sciences (important for admissions policy).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1783080"/>
            <a:ext cx="57607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10" name="Chart 0"/>
          <p:cNvGraphicFramePr/>
          <p:nvPr/>
        </p:nvGraphicFramePr>
        <p:xfrm>
          <a:off x="1005840" y="2057400"/>
          <a:ext cx="50292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6629400" y="1783080"/>
            <a:ext cx="48920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6858000" y="19659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slide is useful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858000" y="2331720"/>
            <a:ext cx="4480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Shows the cohort composition at a glance.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Supports the finding that non-health backgrounds may need bridging support.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Helps justify targeted mentoring and study-skills programs.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0040" y="6638544"/>
            <a:ext cx="894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ResearchEdit4u Solutions • Visual-heavy chart slide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9311640" y="66385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DOI: 10.1186/s12909-023-04372-4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/mnt/data/RE4U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"/>
            <a:ext cx="1417320" cy="63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128016"/>
            <a:ext cx="880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findings (infographic)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231880" y="1463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07/10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601968"/>
            <a:ext cx="1219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statistically significant predictors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Shown as a “one-slide takeaway” for thesis defense / conference talks.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5257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68680" y="2148840"/>
            <a:ext cx="50292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508760" y="21031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08760" y="26060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performance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(−2.22%)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508760" y="3291840"/>
            <a:ext cx="416052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645920" y="33832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Action: counseling + time-management support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17920" y="1874520"/>
            <a:ext cx="5257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446520" y="2148840"/>
            <a:ext cx="50292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086600" y="21031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degree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086600" y="26060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Non-health background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−6.10%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086600" y="3291840"/>
            <a:ext cx="416052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223760" y="33832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Action: bridge modules for non-health entrants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" y="4160520"/>
            <a:ext cx="5257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868680" y="4434840"/>
            <a:ext cx="50292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1508760" y="43891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CGPA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508760" y="48920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+5.98% per +1 CGPA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508760" y="5577840"/>
            <a:ext cx="41605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1645920" y="56692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Action: use as screening + targeted support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17920" y="4160520"/>
            <a:ext cx="5257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6446520" y="4434840"/>
            <a:ext cx="50292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7086600" y="43891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Entrance exam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086600" y="48920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+0.20% per +1 point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086600" y="5577840"/>
            <a:ext cx="4160520" cy="457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7223760" y="56692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Action: refine cutoffs + remediation planning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320040" y="6638544"/>
            <a:ext cx="894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ResearchEdit4u Solutions • One-slide takeaway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311640" y="66385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DOI: 10.1186/s12909-023-04372-4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/mnt/data/RE4U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"/>
            <a:ext cx="1417320" cy="63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128016"/>
            <a:ext cx="880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what? Practical implications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231880" y="1463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08/10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601968"/>
            <a:ext cx="1219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implications for medical schools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Turning findings into decisions (policy + support).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40080" y="1874520"/>
            <a:ext cx="3566160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68680" y="2103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Admissions policy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" y="2514600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Review entry pathways for non-health backgrounds</a:t>
            </a:r>
            <a:endParaRPr lang="en-US" sz="12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prior CGPA as a risk flag (with fairness checks)</a:t>
            </a:r>
            <a:endParaRPr lang="en-US" sz="12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 bridging modules early</a:t>
            </a:r>
            <a:endParaRPr lang="en-US" sz="1280" dirty="0"/>
          </a:p>
        </p:txBody>
      </p:sp>
      <p:sp>
        <p:nvSpPr>
          <p:cNvPr id="13" name="Shape 10"/>
          <p:cNvSpPr/>
          <p:nvPr/>
        </p:nvSpPr>
        <p:spPr>
          <a:xfrm>
            <a:off x="4526280" y="1874520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526280" y="1874520"/>
            <a:ext cx="3566160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754880" y="2103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support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754880" y="2514600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Stress screening + counseling access</a:t>
            </a:r>
            <a:endParaRPr lang="en-US" sz="12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Peer mentoring + study-skills workshops</a:t>
            </a:r>
            <a:endParaRPr lang="en-US" sz="12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Workload clarity and schedule supports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8412480" y="1874520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8412480" y="1874520"/>
            <a:ext cx="3566160" cy="12801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641080" y="2103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&amp; evaluation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641080" y="2514600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Track AP by background</a:t>
            </a:r>
            <a:endParaRPr lang="en-US" sz="12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Evaluate support interventions</a:t>
            </a:r>
            <a:endParaRPr lang="en-US" sz="12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Iterate curriculum + support data-driven</a:t>
            </a:r>
            <a:endParaRPr lang="en-US" sz="1280" dirty="0"/>
          </a:p>
        </p:txBody>
      </p:sp>
      <p:sp>
        <p:nvSpPr>
          <p:cNvPr id="21" name="Text 18"/>
          <p:cNvSpPr/>
          <p:nvPr/>
        </p:nvSpPr>
        <p:spPr>
          <a:xfrm>
            <a:off x="320040" y="6638544"/>
            <a:ext cx="894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ResearchEdit4u Solutions • Implications slide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311640" y="66385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DOI: 10.1186/s12909-023-04372-4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/mnt/data/RE4U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"/>
            <a:ext cx="1417320" cy="63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128016"/>
            <a:ext cx="880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layout preview (A0-ready structure)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231880" y="1463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09/10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601968"/>
            <a:ext cx="1219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Conference poster preview (layout only)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design posters that match journal visuals and keep text readable from 1–2 meters.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1828800"/>
            <a:ext cx="1056132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22960" y="1828800"/>
            <a:ext cx="1056132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/mnt/data/RE4U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20240"/>
            <a:ext cx="1051560" cy="4846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48840" y="192024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Predictors of Academic Performance in Ethiopian Medical Schools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148840" y="2240280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Gebru &amp; Verstegen (2023) • Mixed methods • n=292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005840" y="2697480"/>
            <a:ext cx="31546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1170432" y="2807208"/>
            <a:ext cx="2825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70432" y="3063240"/>
            <a:ext cx="2825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curriculum → performance concerns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predictors for policy.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1005840" y="3977640"/>
            <a:ext cx="31546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1170432" y="4087368"/>
            <a:ext cx="2825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170432" y="4343400"/>
            <a:ext cx="2825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Survey + interviews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+ themes.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4526280" y="2697480"/>
            <a:ext cx="31546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4690872" y="2807208"/>
            <a:ext cx="2825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690872" y="3063240"/>
            <a:ext cx="2825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predictors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R² ≈ 0.71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4526280" y="3977640"/>
            <a:ext cx="31546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4690872" y="4087368"/>
            <a:ext cx="2825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690872" y="4343400"/>
            <a:ext cx="2825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 sizes (bar chart)</a:t>
            </a:r>
            <a:endParaRPr lang="en-US" sz="1080" dirty="0"/>
          </a:p>
        </p:txBody>
      </p:sp>
      <p:sp>
        <p:nvSpPr>
          <p:cNvPr id="26" name="Shape 22"/>
          <p:cNvSpPr/>
          <p:nvPr/>
        </p:nvSpPr>
        <p:spPr>
          <a:xfrm>
            <a:off x="8046720" y="2697480"/>
            <a:ext cx="31546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8211312" y="2807208"/>
            <a:ext cx="2825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Implications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8211312" y="3063240"/>
            <a:ext cx="2825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Admissions + bridging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 support.</a:t>
            </a:r>
            <a:endParaRPr lang="en-US" sz="1080" dirty="0"/>
          </a:p>
        </p:txBody>
      </p:sp>
      <p:sp>
        <p:nvSpPr>
          <p:cNvPr id="29" name="Shape 25"/>
          <p:cNvSpPr/>
          <p:nvPr/>
        </p:nvSpPr>
        <p:spPr>
          <a:xfrm>
            <a:off x="8046720" y="3977640"/>
            <a:ext cx="31546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8211312" y="4087368"/>
            <a:ext cx="2825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211312" y="4343400"/>
            <a:ext cx="2825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edit4u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info@… | website</a:t>
            </a:r>
            <a:endParaRPr lang="en-US" sz="1080" dirty="0"/>
          </a:p>
        </p:txBody>
      </p:sp>
      <p:sp>
        <p:nvSpPr>
          <p:cNvPr id="32" name="Shape 28"/>
          <p:cNvSpPr/>
          <p:nvPr/>
        </p:nvSpPr>
        <p:spPr>
          <a:xfrm>
            <a:off x="822960" y="6263640"/>
            <a:ext cx="105613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1005840" y="6272784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preview only • Final poster delivered as print-ready PDF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320040" y="6638544"/>
            <a:ext cx="894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ResearchEdit4u Solutions • Poster design preview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9311640" y="66385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DOI: 10.1186/s12909-023-04372-4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/mnt/data/RE4U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"/>
            <a:ext cx="1417320" cy="63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128016"/>
            <a:ext cx="880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notes (how to present)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231880" y="1463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601968"/>
            <a:ext cx="1219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Speaker Notes (1-minute script per slide)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1600200"/>
            <a:ext cx="108813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914400" y="1874520"/>
            <a:ext cx="103327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1: Introduce the topic + cite the published paper and why it matters.</a:t>
            </a:r>
            <a:endParaRPr lang="en-US" sz="13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2: State research question + objectives (aim, approach, output).</a:t>
            </a:r>
            <a:endParaRPr lang="en-US" sz="13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3: Explain mixed-method design (survey + interviews) and why both.</a:t>
            </a:r>
            <a:endParaRPr lang="en-US" sz="13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4: Highlight sample size and the variable map feeding the regression.</a:t>
            </a:r>
            <a:endParaRPr lang="en-US" sz="13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5: Walk through the effect-size bar chart (largest negative vs positive predictors).</a:t>
            </a:r>
            <a:endParaRPr lang="en-US" sz="13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6: Explain cohort composition and why bridging support may be needed.</a:t>
            </a:r>
            <a:endParaRPr lang="en-US" sz="13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7: Deliver the “one-slide takeaway” (4 predictors + suggested actions).</a:t>
            </a:r>
            <a:endParaRPr lang="en-US" sz="13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8: Convert findings into policies (admissions, support, monitoring).</a:t>
            </a:r>
            <a:endParaRPr lang="en-US" sz="13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9: Show poster preview and explain what final deliverables include.</a:t>
            </a:r>
            <a:endParaRPr lang="en-US" sz="13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10: Close with contact + offer a customized deck for the audience.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640080" y="5989320"/>
            <a:ext cx="10881360" cy="5669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68680" y="609904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Want a deck like this for your paper? Share your manuscript + target venue → we deliver slides + poster + speaker notes.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0040" y="6638544"/>
            <a:ext cx="894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ResearchEdit4u Solutions • Speaker notes page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311640" y="66385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DOI: 10.1186/s12909-023-04372-4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1400</Words>
  <Application>Microsoft Office PowerPoint</Application>
  <PresentationFormat>Widescreen</PresentationFormat>
  <Paragraphs>209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ResearchEdit4u</dc:creator>
  <cp:lastModifiedBy>editor</cp:lastModifiedBy>
  <cp:revision>1</cp:revision>
  <dcterms:created xsi:type="dcterms:W3CDTF">2026-02-13T19:12:34Z</dcterms:created>
  <dcterms:modified xsi:type="dcterms:W3CDTF">2026-02-13T19:15:19Z</dcterms:modified>
</cp:coreProperties>
</file>